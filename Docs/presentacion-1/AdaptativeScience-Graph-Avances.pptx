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avances del knowledge graph de ciencia participativa. Demo integral ya cargada y validada en GraphDB. Recorrido: infraestructura, ontología de dominio, validación SHACL, capa de ludificación PBL y consultas SPARQL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central de la presentación: hay un ciclo cerrado funcionando. Cada etapa se demuestra en vivo con consultas SPARQL sobre la carga integral.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Volumen de la demo integral (coincide con el resultado esperado de la Query 1). Incluye deliberadamente un caso de abandono para mostrar la no obtención de medallas.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es reproducible: cualquiera puede levantar GraphDB, crear el repo y cargar ontologías y datos siguiendo la documentación. La carga limpia excluye data/smoke.ttl porque es un fixture mínimo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T-Box modela el dominio completo de ciencia participativa. Lo distintivo: la transición reificada permite flujos navegables y bifurcaciones, no listas planas de 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alineaciones livianas no son decorativas: habilitan inferencia. Por ejemplo, una consulta en PROV-O responde aunque el dato original use cipa:respondidaPor (Query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están pensados para que las queries cuenten una historia: multi-proyecto, multi-tipo de respuesta y un caso de abandono que justifica que alguien quede sin medalla.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validación corre localmente con pyshacl y rdflib, incluyendo ejemplos válidos e inválidos y shapes basadas en sh:sparql. La carga integral conforma. SHACL es además la base para E5: derivar medallas.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PBL es una ontología separada, sin acoplarse a cipa:. Cada PointAward es trazable hacia la contribución de dominio que lo originó (Query 10) y la billetera se materializa por 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clave: pbl:earnedBadge NO se carga a mano. Las medallas son el resultado esperado de E5, donde se determinan vía SHACL y luego pueden materializarse. La billetera coincide con la suma de awards (Query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dominio: del conteo de entidades al flujo de protocolos, la participación real y la inferencia semántica con PROV-O. La query 7 demuestra un camino multi-hop Persona←Muestra→Protocolo←Proyecto→Área.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PBL: catálogo y reglas, trazabilidad de puntos hacia el dominio, verificación de la billetera materializada, leaderboard y cierre con el progreso y la precedencia de medallas.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guión va de la infraestructura a los datos de dominio, luego a la inferencia, y cierra con toda la capa PBL: del catálogo a las medallas. Es la secuencia recomendada para la defensa.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E5 es la historia natural siguiente: las medallas dejan de ser un resultado esperado y pasan a determinarse vía SHACL (sh:sparql) y materializarse como pbl:earnedBadge, consultables desde GraphDB.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avance ya permite demostrar el ciclo completo de extremo a extremo. Lo que queda (E5) es materializar las medallas vía SHACL y preparar las queries finales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2.png"/><Relationship Id="rId9" Type="http://schemas.openxmlformats.org/officeDocument/2006/relationships/image" Target="../media/image-2-9.png"/><Relationship Id="rId10" Type="http://schemas.openxmlformats.org/officeDocument/2006/relationships/image" Target="../media/image-2-2.png"/><Relationship Id="rId11" Type="http://schemas.openxmlformats.org/officeDocument/2006/relationships/image" Target="../media/image-2-11.png"/><Relationship Id="rId12" Type="http://schemas.openxmlformats.org/officeDocument/2006/relationships/image" Target="../media/image-2-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D6A4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457200"/>
            <a:ext cx="3108960" cy="3108960"/>
          </a:xfrm>
          <a:prstGeom prst="ellipse">
            <a:avLst/>
          </a:prstGeom>
          <a:solidFill>
            <a:srgbClr val="5E9A6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4023360"/>
            <a:ext cx="4206240" cy="4206240"/>
          </a:xfrm>
          <a:prstGeom prst="ellipse">
            <a:avLst/>
          </a:prstGeom>
          <a:solidFill>
            <a:srgbClr val="1B4332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868680"/>
            <a:ext cx="868680" cy="868680"/>
          </a:xfrm>
          <a:prstGeom prst="ellipse">
            <a:avLst/>
          </a:prstGeom>
          <a:solidFill>
            <a:srgbClr val="A8C9A0"/>
          </a:solidFill>
          <a:ln/>
        </p:spPr>
      </p:sp>
      <p:pic>
        <p:nvPicPr>
          <p:cNvPr id="6" name="Image 0" descr="icons/leaf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0858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PARTICIPATIVA · KNOWLEDGE GRAPH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54203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AdaptativeScience Graph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66928" y="3611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4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de avances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66928" y="4617720"/>
            <a:ext cx="1559052" cy="420624"/>
          </a:xfrm>
          <a:prstGeom prst="roundRect">
            <a:avLst>
              <a:gd name="adj" fmla="val 50000"/>
            </a:avLst>
          </a:prstGeom>
          <a:solidFill>
            <a:srgbClr val="2D6A4F">
              <a:alpha val="82000"/>
            </a:srgbClr>
          </a:solidFill>
          <a:ln w="12700">
            <a:solidFill>
              <a:srgbClr val="5E9A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617720"/>
            <a:ext cx="1559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Ontología OWL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290572" y="4617720"/>
            <a:ext cx="886968" cy="420624"/>
          </a:xfrm>
          <a:prstGeom prst="roundRect">
            <a:avLst>
              <a:gd name="adj" fmla="val 50000"/>
            </a:avLst>
          </a:prstGeom>
          <a:solidFill>
            <a:srgbClr val="2D6A4F">
              <a:alpha val="82000"/>
            </a:srgbClr>
          </a:solidFill>
          <a:ln w="12700">
            <a:solidFill>
              <a:srgbClr val="5E9A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90572" y="4617720"/>
            <a:ext cx="886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342132" y="4617720"/>
            <a:ext cx="790956" cy="420624"/>
          </a:xfrm>
          <a:prstGeom prst="roundRect">
            <a:avLst>
              <a:gd name="adj" fmla="val 50000"/>
            </a:avLst>
          </a:prstGeom>
          <a:solidFill>
            <a:srgbClr val="2D6A4F">
              <a:alpha val="82000"/>
            </a:srgbClr>
          </a:solidFill>
          <a:ln w="12700">
            <a:solidFill>
              <a:srgbClr val="5E9A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42132" y="4617720"/>
            <a:ext cx="79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0" y="4617720"/>
            <a:ext cx="982980" cy="420624"/>
          </a:xfrm>
          <a:prstGeom prst="roundRect">
            <a:avLst>
              <a:gd name="adj" fmla="val 50000"/>
            </a:avLst>
          </a:prstGeom>
          <a:solidFill>
            <a:srgbClr val="2D6A4F">
              <a:alpha val="82000"/>
            </a:srgbClr>
          </a:solidFill>
          <a:ln w="12700">
            <a:solidFill>
              <a:srgbClr val="5E9A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7680" y="4617720"/>
            <a:ext cx="9829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GraphDB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5252" y="4617720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2D6A4F">
              <a:alpha val="82000"/>
            </a:srgbClr>
          </a:solidFill>
          <a:ln w="12700">
            <a:solidFill>
              <a:srgbClr val="5E9A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5252" y="461772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PBL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Lattanzio</a:t>
            </a:r>
            <a:pPr indent="0" marL="0">
              <a:buNone/>
            </a:pPr>
            <a:r>
              <a:rPr lang="en-US" sz="1300" dirty="0">
                <a:solidFill>
                  <a:srgbClr val="A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Demo integral cargada en GraphDB · Repositorio </a:t>
            </a:r>
            <a:pPr indent="0" marL="0">
              <a:buNone/>
            </a:pPr>
            <a:r>
              <a:rPr lang="en-US" sz="13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cipa-local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/>
        </p:spPr>
      </p:sp>
      <p:pic>
        <p:nvPicPr>
          <p:cNvPr id="3" name="Image 0" descr="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EXTREMO A EXTREMO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semántico completo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197864" y="3236976"/>
            <a:ext cx="9795967" cy="0"/>
          </a:xfrm>
          <a:prstGeom prst="line">
            <a:avLst/>
          </a:prstGeom>
          <a:noFill/>
          <a:ln w="31750">
            <a:solidFill>
              <a:srgbClr val="D7E3D8"/>
            </a:solidFill>
            <a:prstDash val="solid"/>
          </a:ln>
        </p:spPr>
      </p:sp>
      <p:pic>
        <p:nvPicPr>
          <p:cNvPr id="7" name="Image 1" descr="icons/arrowRight_m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891" y="3090672"/>
            <a:ext cx="292608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" y="2697480"/>
            <a:ext cx="1078992" cy="107899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9" name="Image 2" descr="icons/layerGro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967228"/>
            <a:ext cx="539496" cy="5394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8328" y="38862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Ontología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</a:t>
            </a:r>
            <a:endParaRPr lang="en-US" sz="1350" dirty="0"/>
          </a:p>
        </p:txBody>
      </p:sp>
      <p:pic>
        <p:nvPicPr>
          <p:cNvPr id="11" name="Image 3" descr="icons/arrowRight_mo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552" y="3090672"/>
            <a:ext cx="292608" cy="29260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291029" y="2697480"/>
            <a:ext cx="1078992" cy="107899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4" descr="icons/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777" y="2967228"/>
            <a:ext cx="539496" cy="5394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70989" y="38862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</a:t>
            </a:r>
            <a:endParaRPr lang="en-US" sz="1350" dirty="0"/>
          </a:p>
        </p:txBody>
      </p:sp>
      <p:pic>
        <p:nvPicPr>
          <p:cNvPr id="15" name="Image 5" descr="icons/arrowRight_mo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3213" y="3090672"/>
            <a:ext cx="292608" cy="29260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3923690" y="2697480"/>
            <a:ext cx="1078992" cy="1078992"/>
          </a:xfrm>
          <a:prstGeom prst="ellipse">
            <a:avLst/>
          </a:prstGeom>
          <a:solidFill>
            <a:srgbClr val="5E9A6E"/>
          </a:solidFill>
          <a:ln/>
        </p:spPr>
      </p:sp>
      <p:pic>
        <p:nvPicPr>
          <p:cNvPr id="17" name="Image 6" descr="icons/shiel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438" y="2967228"/>
            <a:ext cx="539496" cy="53949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603650" y="38862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</a:t>
            </a:r>
            <a:endParaRPr lang="en-US" sz="1350" dirty="0"/>
          </a:p>
        </p:txBody>
      </p:sp>
      <p:pic>
        <p:nvPicPr>
          <p:cNvPr id="19" name="Image 7" descr="icons/arrowRight_mos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5874" y="3090672"/>
            <a:ext cx="292608" cy="292608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556352" y="2697480"/>
            <a:ext cx="1078992" cy="107899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8" descr="icons/serve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6100" y="2967228"/>
            <a:ext cx="539496" cy="53949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236312" y="38862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GraphDB</a:t>
            </a:r>
            <a:endParaRPr lang="en-US" sz="1350" dirty="0"/>
          </a:p>
        </p:txBody>
      </p:sp>
      <p:pic>
        <p:nvPicPr>
          <p:cNvPr id="23" name="Image 9" descr="icons/arrowRight_mos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8535" y="3090672"/>
            <a:ext cx="292608" cy="292608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7189013" y="2697480"/>
            <a:ext cx="1078992" cy="107899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5" name="Image 10" descr="icons/search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8761" y="2967228"/>
            <a:ext cx="539496" cy="539496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868973" y="38862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</a:t>
            </a:r>
            <a:endParaRPr lang="en-US" sz="1350" dirty="0"/>
          </a:p>
        </p:txBody>
      </p:sp>
      <p:pic>
        <p:nvPicPr>
          <p:cNvPr id="27" name="Image 11" descr="icons/arrowRight_mos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1197" y="3090672"/>
            <a:ext cx="292608" cy="292608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8821674" y="2697480"/>
            <a:ext cx="1078992" cy="1078992"/>
          </a:xfrm>
          <a:prstGeom prst="ellipse">
            <a:avLst/>
          </a:prstGeom>
          <a:solidFill>
            <a:srgbClr val="5E9A6E"/>
          </a:solidFill>
          <a:ln/>
        </p:spPr>
      </p:sp>
      <p:pic>
        <p:nvPicPr>
          <p:cNvPr id="29" name="Image 12" descr="icons/brain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1422" y="2967228"/>
            <a:ext cx="539496" cy="539496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8501634" y="38862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</a:t>
            </a:r>
            <a:endParaRPr lang="en-US" sz="1350" dirty="0"/>
          </a:p>
        </p:txBody>
      </p:sp>
      <p:sp>
        <p:nvSpPr>
          <p:cNvPr id="31" name="Shape 16"/>
          <p:cNvSpPr/>
          <p:nvPr/>
        </p:nvSpPr>
        <p:spPr>
          <a:xfrm>
            <a:off x="10454335" y="2697480"/>
            <a:ext cx="1078992" cy="1078992"/>
          </a:xfrm>
          <a:prstGeom prst="ellipse">
            <a:avLst/>
          </a:prstGeom>
          <a:solidFill>
            <a:srgbClr val="C9882E"/>
          </a:solidFill>
          <a:ln/>
        </p:spPr>
      </p:sp>
      <p:pic>
        <p:nvPicPr>
          <p:cNvPr id="32" name="Image 13" descr="icons/gamepad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24083" y="2967228"/>
            <a:ext cx="539496" cy="539496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10134295" y="388620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</a:t>
            </a:r>
            <a:endParaRPr lang="en-US" sz="1350" dirty="0"/>
          </a:p>
        </p:txBody>
      </p:sp>
      <p:sp>
        <p:nvSpPr>
          <p:cNvPr id="34" name="Shape 18"/>
          <p:cNvSpPr/>
          <p:nvPr/>
        </p:nvSpPr>
        <p:spPr>
          <a:xfrm>
            <a:off x="566928" y="5074920"/>
            <a:ext cx="11057839" cy="1143000"/>
          </a:xfrm>
          <a:prstGeom prst="roundRect">
            <a:avLst>
              <a:gd name="adj" fmla="val 8000"/>
            </a:avLst>
          </a:prstGeom>
          <a:solidFill>
            <a:srgbClr val="EAF1EA"/>
          </a:solidFill>
          <a:ln/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5" name="Text 19"/>
          <p:cNvSpPr/>
          <p:nvPr/>
        </p:nvSpPr>
        <p:spPr>
          <a:xfrm>
            <a:off x="886968" y="5230368"/>
            <a:ext cx="104177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OWL → RDF → SHACL → GraphDB → SPARQL → inferencia → PBL</a:t>
            </a:r>
            <a:endParaRPr lang="en-US" sz="1600" dirty="0"/>
          </a:p>
        </p:txBody>
      </p:sp>
      <p:sp>
        <p:nvSpPr>
          <p:cNvPr id="36" name="Text 20"/>
          <p:cNvSpPr/>
          <p:nvPr/>
        </p:nvSpPr>
        <p:spPr>
          <a:xfrm>
            <a:off x="886968" y="5669280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actual ya demuestra el ciclo completo de punta a punta: del modelo conceptual a las consultas inferidas y la capa de juego.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/>
        </p:spPr>
      </p:sp>
      <p:pic>
        <p:nvPicPr>
          <p:cNvPr id="3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la demo integral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27632"/>
            <a:ext cx="3490874" cy="1298448"/>
          </a:xfrm>
          <a:prstGeom prst="roundRect">
            <a:avLst>
              <a:gd name="adj" fmla="val 704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865376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icons/projec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00710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773936"/>
            <a:ext cx="2485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04672" y="2414016"/>
            <a:ext cx="3033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4672" y="2651760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Botánica · Ambiente · Zoología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50410" y="1627632"/>
            <a:ext cx="3490874" cy="1298448"/>
          </a:xfrm>
          <a:prstGeom prst="roundRect">
            <a:avLst>
              <a:gd name="adj" fmla="val 704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69866" y="1865376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4" name="Image 2" descr="icons/code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598" y="2007108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46522" y="1773936"/>
            <a:ext cx="2485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4588154" y="2414016"/>
            <a:ext cx="3033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activos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88154" y="2651760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Bifurcado y lineal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133893" y="1627632"/>
            <a:ext cx="3490874" cy="1298448"/>
          </a:xfrm>
          <a:prstGeom prst="roundRect">
            <a:avLst>
              <a:gd name="adj" fmla="val 704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53349" y="1865376"/>
            <a:ext cx="566928" cy="566928"/>
          </a:xfrm>
          <a:prstGeom prst="ellipse">
            <a:avLst/>
          </a:prstGeom>
          <a:solidFill>
            <a:srgbClr val="5E9A6E"/>
          </a:solidFill>
          <a:ln/>
        </p:spPr>
      </p:sp>
      <p:pic>
        <p:nvPicPr>
          <p:cNvPr id="20" name="Image 3" descr="icons/listO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081" y="200710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30005" y="1773936"/>
            <a:ext cx="2485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9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22" name="Text 16"/>
          <p:cNvSpPr/>
          <p:nvPr/>
        </p:nvSpPr>
        <p:spPr>
          <a:xfrm>
            <a:off x="8371637" y="2414016"/>
            <a:ext cx="3033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371637" y="2651760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y cuestionario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66928" y="3200400"/>
            <a:ext cx="3490874" cy="1298448"/>
          </a:xfrm>
          <a:prstGeom prst="roundRect">
            <a:avLst>
              <a:gd name="adj" fmla="val 704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86384" y="3438144"/>
            <a:ext cx="566928" cy="566928"/>
          </a:xfrm>
          <a:prstGeom prst="ellipse">
            <a:avLst/>
          </a:prstGeom>
          <a:solidFill>
            <a:srgbClr val="5E9A6E"/>
          </a:solidFill>
          <a:ln/>
        </p:spPr>
      </p:sp>
      <p:pic>
        <p:nvPicPr>
          <p:cNvPr id="26" name="Image 4" descr="icons/shar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3579876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3346704"/>
            <a:ext cx="2485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9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8" name="Text 21"/>
          <p:cNvSpPr/>
          <p:nvPr/>
        </p:nvSpPr>
        <p:spPr>
          <a:xfrm>
            <a:off x="804672" y="3986784"/>
            <a:ext cx="3033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04672" y="4224528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con condiciones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350410" y="3200400"/>
            <a:ext cx="3490874" cy="1298448"/>
          </a:xfrm>
          <a:prstGeom prst="roundRect">
            <a:avLst>
              <a:gd name="adj" fmla="val 704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69866" y="3438144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2" name="Image 5" descr="icons/mapPi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598" y="3579876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46522" y="3346704"/>
            <a:ext cx="2485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34" name="Text 26"/>
          <p:cNvSpPr/>
          <p:nvPr/>
        </p:nvSpPr>
        <p:spPr>
          <a:xfrm>
            <a:off x="4588154" y="3986784"/>
            <a:ext cx="3033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4588154" y="4224528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Geolocalizadas por provincia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8133893" y="3200400"/>
            <a:ext cx="3490874" cy="1298448"/>
          </a:xfrm>
          <a:prstGeom prst="roundRect">
            <a:avLst>
              <a:gd name="adj" fmla="val 704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353349" y="3438144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8" name="Image 6" descr="icons/vial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5081" y="3579876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030005" y="3346704"/>
            <a:ext cx="2485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40" name="Text 31"/>
          <p:cNvSpPr/>
          <p:nvPr/>
        </p:nvSpPr>
        <p:spPr>
          <a:xfrm>
            <a:off x="8371637" y="3986784"/>
            <a:ext cx="3033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8371637" y="4224528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· opción · multimedia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566928" y="4773168"/>
            <a:ext cx="3490874" cy="1298448"/>
          </a:xfrm>
          <a:prstGeom prst="roundRect">
            <a:avLst>
              <a:gd name="adj" fmla="val 704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786384" y="5010912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4" name="Image 7" descr="icons/user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" y="5152644"/>
            <a:ext cx="283464" cy="28346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463040" y="4919472"/>
            <a:ext cx="2485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46" name="Text 36"/>
          <p:cNvSpPr/>
          <p:nvPr/>
        </p:nvSpPr>
        <p:spPr>
          <a:xfrm>
            <a:off x="804672" y="5559552"/>
            <a:ext cx="3033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00" dirty="0"/>
          </a:p>
        </p:txBody>
      </p:sp>
      <p:sp>
        <p:nvSpPr>
          <p:cNvPr id="47" name="Text 37"/>
          <p:cNvSpPr/>
          <p:nvPr/>
        </p:nvSpPr>
        <p:spPr>
          <a:xfrm>
            <a:off x="804672" y="5797296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con nivel de expertise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4350410" y="4773168"/>
            <a:ext cx="3490874" cy="1298448"/>
          </a:xfrm>
          <a:prstGeom prst="roundRect">
            <a:avLst>
              <a:gd name="adj" fmla="val 704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4569866" y="5010912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50" name="Image 8" descr="icons/glob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598" y="5152644"/>
            <a:ext cx="283464" cy="283464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246522" y="4919472"/>
            <a:ext cx="2485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52" name="Text 41"/>
          <p:cNvSpPr/>
          <p:nvPr/>
        </p:nvSpPr>
        <p:spPr>
          <a:xfrm>
            <a:off x="4588154" y="5559552"/>
            <a:ext cx="3033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Ubicaciones</a:t>
            </a:r>
            <a:endParaRPr lang="en-US" sz="1400" dirty="0"/>
          </a:p>
        </p:txBody>
      </p:sp>
      <p:sp>
        <p:nvSpPr>
          <p:cNvPr id="53" name="Text 42"/>
          <p:cNvSpPr/>
          <p:nvPr/>
        </p:nvSpPr>
        <p:spPr>
          <a:xfrm>
            <a:off x="4588154" y="5797296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Alineadas con GeoSPARQL</a:t>
            </a:r>
            <a:endParaRPr lang="en-US" sz="1050" dirty="0"/>
          </a:p>
        </p:txBody>
      </p:sp>
      <p:sp>
        <p:nvSpPr>
          <p:cNvPr id="54" name="Shape 43"/>
          <p:cNvSpPr/>
          <p:nvPr/>
        </p:nvSpPr>
        <p:spPr>
          <a:xfrm>
            <a:off x="8133893" y="4773168"/>
            <a:ext cx="3490874" cy="1298448"/>
          </a:xfrm>
          <a:prstGeom prst="roundRect">
            <a:avLst>
              <a:gd name="adj" fmla="val 704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8353349" y="5010912"/>
            <a:ext cx="566928" cy="566928"/>
          </a:xfrm>
          <a:prstGeom prst="ellipse">
            <a:avLst/>
          </a:prstGeom>
          <a:solidFill>
            <a:srgbClr val="C9882E"/>
          </a:solidFill>
          <a:ln/>
        </p:spPr>
      </p:sp>
      <p:pic>
        <p:nvPicPr>
          <p:cNvPr id="56" name="Image 9" descr="icons/photo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5081" y="5152644"/>
            <a:ext cx="283464" cy="283464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9030005" y="4919472"/>
            <a:ext cx="2485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58" name="Text 46"/>
          <p:cNvSpPr/>
          <p:nvPr/>
        </p:nvSpPr>
        <p:spPr>
          <a:xfrm>
            <a:off x="8371637" y="5559552"/>
            <a:ext cx="3033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Adjuntos</a:t>
            </a:r>
            <a:endParaRPr lang="en-US" sz="1400" dirty="0"/>
          </a:p>
        </p:txBody>
      </p:sp>
      <p:sp>
        <p:nvSpPr>
          <p:cNvPr id="59" name="Text 47"/>
          <p:cNvSpPr/>
          <p:nvPr/>
        </p:nvSpPr>
        <p:spPr>
          <a:xfrm>
            <a:off x="8371637" y="5797296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árboles y aves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/>
        </p:spPr>
      </p:sp>
      <p:pic>
        <p:nvPicPr>
          <p:cNvPr id="3" name="Image 0" descr="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reproducible para trabajar localmente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91640"/>
            <a:ext cx="537347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" y="2020824"/>
            <a:ext cx="749808" cy="74980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icons/dock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2208276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020824"/>
            <a:ext cx="381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GraphDB 10.8.8 en Docker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828800" y="2532888"/>
            <a:ext cx="381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levanta el motor con un solo comando.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51296" y="1691640"/>
            <a:ext cx="537347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62192" y="2020824"/>
            <a:ext cx="749808" cy="74980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2" descr="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644" y="2208276"/>
            <a:ext cx="374904" cy="374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13168" y="2020824"/>
            <a:ext cx="381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cipa-local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513168" y="2532888"/>
            <a:ext cx="381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 con ruleset rdfsplus-optimized para inferencia.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66928" y="3749040"/>
            <a:ext cx="537347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77824" y="4078224"/>
            <a:ext cx="749808" cy="749808"/>
          </a:xfrm>
          <a:prstGeom prst="ellipse">
            <a:avLst/>
          </a:prstGeom>
          <a:solidFill>
            <a:srgbClr val="5E9A6E"/>
          </a:solidFill>
          <a:ln/>
        </p:spPr>
      </p:sp>
      <p:pic>
        <p:nvPicPr>
          <p:cNvPr id="18" name="Image 3" descr="icons/fold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4265676"/>
            <a:ext cx="374904" cy="374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078224"/>
            <a:ext cx="381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carpetas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828800" y="4590288"/>
            <a:ext cx="381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Ontologías, datos, shapes, consultas, docs y configuración.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251296" y="3749040"/>
            <a:ext cx="537347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62192" y="4078224"/>
            <a:ext cx="749808" cy="749808"/>
          </a:xfrm>
          <a:prstGeom prst="ellipse">
            <a:avLst/>
          </a:prstGeom>
          <a:solidFill>
            <a:srgbClr val="C9882E"/>
          </a:solidFill>
          <a:ln/>
        </p:spPr>
      </p:sp>
      <p:pic>
        <p:nvPicPr>
          <p:cNvPr id="23" name="Image 4" descr="icons/boo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644" y="4265676"/>
            <a:ext cx="374904" cy="374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13168" y="4078224"/>
            <a:ext cx="381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operativa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7513168" y="4590288"/>
            <a:ext cx="381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graphdb.md, validation.md y namespaces.md.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897880"/>
            <a:ext cx="11057839" cy="548640"/>
          </a:xfrm>
          <a:prstGeom prst="roundRect">
            <a:avLst>
              <a:gd name="adj" fmla="val 16667"/>
            </a:avLst>
          </a:prstGeom>
          <a:solidFill>
            <a:srgbClr val="11251C"/>
          </a:solidFill>
          <a:ln/>
        </p:spPr>
      </p:sp>
      <p:sp>
        <p:nvSpPr>
          <p:cNvPr id="27" name="Text 20"/>
          <p:cNvSpPr/>
          <p:nvPr/>
        </p:nvSpPr>
        <p:spPr>
          <a:xfrm>
            <a:off x="841248" y="5897880"/>
            <a:ext cx="1050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web  </a:t>
            </a:r>
            <a:pPr indent="0" marL="0">
              <a:buNone/>
            </a:pPr>
            <a:r>
              <a:rPr lang="en-US" sz="1350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http://localhost:7200</a:t>
            </a:r>
            <a:pPr indent="0" marL="0">
              <a:buNone/>
            </a:pPr>
            <a:r>
              <a:rPr lang="en-US" sz="1350" b="1" dirty="0">
                <a:solidFill>
                  <a:srgbClr val="A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Repositorio  </a:t>
            </a:r>
            <a:pPr indent="0" marL="0">
              <a:buNone/>
            </a:pPr>
            <a:r>
              <a:rPr lang="en-US" sz="1350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cipa-local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/>
        </p:spPr>
      </p:sp>
      <p:pic>
        <p:nvPicPr>
          <p:cNvPr id="3" name="Image 0" descr="icons/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ONTOLOGÍA DE DOMINIO · CIPA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T-Box que modela la ciencia participativa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45920"/>
            <a:ext cx="5373472" cy="1188720"/>
          </a:xfrm>
          <a:prstGeom prst="roundRect">
            <a:avLst>
              <a:gd name="adj" fmla="val 769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56816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icons/projec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209854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1828800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· AreaConocimiento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536192" y="2249424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clasificadas por área de conocimiento.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51296" y="1645920"/>
            <a:ext cx="5373472" cy="1188720"/>
          </a:xfrm>
          <a:prstGeom prst="roundRect">
            <a:avLst>
              <a:gd name="adj" fmla="val 769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07328" y="1956816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2" descr="icons/code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060" y="209854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0560" y="1828800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· Estados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220560" y="2249424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con estados y protocolo activo.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66928" y="3072384"/>
            <a:ext cx="5373472" cy="1188720"/>
          </a:xfrm>
          <a:prstGeom prst="roundRect">
            <a:avLst>
              <a:gd name="adj" fmla="val 769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3383280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8" name="Image 3" descr="icons/listO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352501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36192" y="3255264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536192" y="3675888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Especializaciones Multimedia y Cuestionario.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51296" y="3072384"/>
            <a:ext cx="5373472" cy="1188720"/>
          </a:xfrm>
          <a:prstGeom prst="roundRect">
            <a:avLst>
              <a:gd name="adj" fmla="val 769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07328" y="3383280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3" name="Image 4" descr="icons/shar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060" y="3525012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0560" y="3255264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reificada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220560" y="3675888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flujos y bifurcaciones condicionales.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66928" y="4498848"/>
            <a:ext cx="5373472" cy="1188720"/>
          </a:xfrm>
          <a:prstGeom prst="roundRect">
            <a:avLst>
              <a:gd name="adj" fmla="val 769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22960" y="4809744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8" name="Image 5" descr="icons/via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4951476"/>
            <a:ext cx="283464" cy="2834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36192" y="4681728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· MuestraRespuesta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1536192" y="5102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Ejecuciones reales de los protocolos.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251296" y="4498848"/>
            <a:ext cx="5373472" cy="1188720"/>
          </a:xfrm>
          <a:prstGeom prst="roundRect">
            <a:avLst>
              <a:gd name="adj" fmla="val 769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507328" y="4809744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3" name="Image 6" descr="icons/us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9060" y="4951476"/>
            <a:ext cx="283464" cy="2834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20560" y="4681728"/>
            <a:ext cx="418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Ubicación · Adjunto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7220560" y="5102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colaborador con expertise y área de interés.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882E"/>
          </a:solidFill>
          <a:ln/>
        </p:spPr>
      </p:sp>
      <p:pic>
        <p:nvPicPr>
          <p:cNvPr id="3" name="Image 0" descr="icons/sha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SEMÁNTICA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Alineaciones con vocabularios estándar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27632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92224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9202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62763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FOAF + PROV-O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315968" y="1627632"/>
            <a:ext cx="70344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cipa:Persona ⊑ foaf:Person, prov:Agent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" y="2578608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" y="2743200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2" descr="icons/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8712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1328" y="257860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PROV-O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315968" y="2578608"/>
            <a:ext cx="70344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cipa:respondidaPor ⊑ prov:wasAttributedTo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66928" y="3529584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3694176"/>
            <a:ext cx="512064" cy="512064"/>
          </a:xfrm>
          <a:prstGeom prst="ellipse">
            <a:avLst/>
          </a:prstGeom>
          <a:solidFill>
            <a:srgbClr val="5E9A6E"/>
          </a:solidFill>
          <a:ln/>
        </p:spPr>
      </p:sp>
      <p:pic>
        <p:nvPicPr>
          <p:cNvPr id="18" name="Image 3" descr="icons/ta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82219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352958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SKOS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4315968" y="3529584"/>
            <a:ext cx="70344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cipa:AreaConocimiento ⊑ skos:Concept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4645152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4" descr="icons/microscop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77316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81328" y="44805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SOSA / SSN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4315968" y="4480560"/>
            <a:ext cx="70344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 ⊑ sosa:Procedure · Muestra alineada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566928" y="5431536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22960" y="5596128"/>
            <a:ext cx="512064" cy="512064"/>
          </a:xfrm>
          <a:prstGeom prst="ellipse">
            <a:avLst/>
          </a:prstGeom>
          <a:solidFill>
            <a:srgbClr val="C9882E"/>
          </a:solidFill>
          <a:ln/>
        </p:spPr>
      </p:sp>
      <p:pic>
        <p:nvPicPr>
          <p:cNvPr id="28" name="Image 5" descr="icons/glob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72414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81328" y="543153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GeoSPARQL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4315968" y="5431536"/>
            <a:ext cx="70344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cipa:Ubicacion alineada para geolocalización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/>
        </p:spPr>
      </p:sp>
      <p:pic>
        <p:nvPicPr>
          <p:cNvPr id="3" name="Image 0" descr="icons/tr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DOMINIO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demo poblada con casos realistas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45920"/>
            <a:ext cx="537347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92024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icons/tre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2071116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91056" y="1847088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nativos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91056" y="2249424"/>
            <a:ext cx="413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con bifurcación: ¿es nativa? Sí → especie · No → confirmar exótica.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51296" y="1645920"/>
            <a:ext cx="537347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25616" y="192024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2" descr="icons/dov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492" y="2071116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75424" y="1847088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de aves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275424" y="2249424"/>
            <a:ext cx="413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lineal: foto → especie → cantidad observada.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66928" y="3163824"/>
            <a:ext cx="537347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1248" y="3438144"/>
            <a:ext cx="603504" cy="603504"/>
          </a:xfrm>
          <a:prstGeom prst="ellipse">
            <a:avLst/>
          </a:prstGeom>
          <a:solidFill>
            <a:srgbClr val="5E9A6E"/>
          </a:solidFill>
          <a:ln/>
        </p:spPr>
      </p:sp>
      <p:pic>
        <p:nvPicPr>
          <p:cNvPr id="18" name="Image 3" descr="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3589020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91056" y="3364992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longitudinales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591056" y="3767328"/>
            <a:ext cx="413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Pérez aporta en árboles y aves, en distintos meses y provincias.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51296" y="3163824"/>
            <a:ext cx="537347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25616" y="3438144"/>
            <a:ext cx="603504" cy="60350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4" descr="icons/via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492" y="3589020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75424" y="3364992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respuesta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275424" y="3767328"/>
            <a:ext cx="413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(Ceibo, Hornero), opciones (Sí/No, Flores) y multimedia.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66928" y="4681728"/>
            <a:ext cx="537347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41248" y="4956048"/>
            <a:ext cx="603504" cy="603504"/>
          </a:xfrm>
          <a:prstGeom prst="ellipse">
            <a:avLst/>
          </a:prstGeom>
          <a:solidFill>
            <a:srgbClr val="C9882E"/>
          </a:solidFill>
          <a:ln/>
        </p:spPr>
      </p:sp>
      <p:pic>
        <p:nvPicPr>
          <p:cNvPr id="28" name="Image 5" descr="icons/ba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5106924"/>
            <a:ext cx="301752" cy="3017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91056" y="4882896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abandono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1591056" y="5285232"/>
            <a:ext cx="413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Lucía Gómez geolocaliza pero no completa el protocolo ni sube foto.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251296" y="4681728"/>
            <a:ext cx="537347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525616" y="4956048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3" name="Image 6" descr="icons/mapPi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6492" y="5106924"/>
            <a:ext cx="301752" cy="30175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75424" y="4882896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geográfica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7275424" y="5285232"/>
            <a:ext cx="413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en Buenos Aires, Santa Fe y Córdoba con ubicación y fecha.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A8C9A0"/>
          </a:solidFill>
          <a:ln/>
        </p:spPr>
      </p:sp>
      <p:pic>
        <p:nvPicPr>
          <p:cNvPr id="3" name="Image 0" descr="icons/shiel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 conforman las shapes SHACL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82880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B4332"/>
          </a:solidFill>
          <a:ln/>
        </p:spPr>
      </p:sp>
      <p:sp>
        <p:nvSpPr>
          <p:cNvPr id="7" name="Shape 4"/>
          <p:cNvSpPr/>
          <p:nvPr/>
        </p:nvSpPr>
        <p:spPr>
          <a:xfrm>
            <a:off x="2532888" y="2286000"/>
            <a:ext cx="914400" cy="914400"/>
          </a:xfrm>
          <a:prstGeom prst="ellipse">
            <a:avLst/>
          </a:prstGeom>
          <a:solidFill>
            <a:srgbClr val="A8C9A0"/>
          </a:solidFill>
          <a:ln/>
        </p:spPr>
      </p:sp>
      <p:pic>
        <p:nvPicPr>
          <p:cNvPr id="8" name="Image 1" descr="icons/chec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2514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33832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Conforms: True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932688" y="41148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integral validada combinando los TTL de dominio en memoria con shapes/domain-smoke.ttl.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79008" y="1828800"/>
            <a:ext cx="5845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validación local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779008" y="22128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5E9A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79008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pyshacl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470648" y="22128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5E9A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70648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rdflib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779008" y="2926080"/>
            <a:ext cx="5845759" cy="3063240"/>
          </a:xfrm>
          <a:prstGeom prst="roundRect">
            <a:avLst>
              <a:gd name="adj" fmla="val 2985"/>
            </a:avLst>
          </a:prstGeom>
          <a:solidFill>
            <a:srgbClr val="11251C"/>
          </a:solidFill>
          <a:ln/>
        </p:spPr>
      </p:sp>
      <p:sp>
        <p:nvSpPr>
          <p:cNvPr id="17" name="Text 13"/>
          <p:cNvSpPr/>
          <p:nvPr/>
        </p:nvSpPr>
        <p:spPr>
          <a:xfrm>
            <a:off x="6071616" y="3108960"/>
            <a:ext cx="529711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-c "Graph().parse('cipa-domain.ttl')"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8C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ontology OK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shapes/validate.py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--data data/smoke.ttl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--shapes shapes/domain-smoke.ttl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--inference rdfs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Report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Conforms: True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882E"/>
          </a:solidFill>
          <a:ln/>
        </p:spPr>
      </p:sp>
      <p:pic>
        <p:nvPicPr>
          <p:cNvPr id="3" name="Image 0" descr="icons/gamep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LUDIFICACIÓN · PBL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capa de juego desacoplada del dominio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45920"/>
            <a:ext cx="5074920" cy="4572000"/>
          </a:xfrm>
          <a:prstGeom prst="roundRect">
            <a:avLst>
              <a:gd name="adj" fmla="val 2000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6968" y="18288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clases pbl: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86968" y="22860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696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pbl:Game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18688" y="22860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28416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pbl:Activity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86968" y="28346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6696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pbl:PointRule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218688" y="28346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28416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pbl:PointAward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86968" y="33832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6696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pbl:Badge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218688" y="33832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28416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pbl:Leaderboard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86968" y="39319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96696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pbl:Player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18688" y="39319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28416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pbl:PlayerState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86968" y="448056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6696" y="4480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pbl:DifficultyLevel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007608" y="1700784"/>
            <a:ext cx="5617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puntos del juego de relevamiento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007608" y="2194560"/>
            <a:ext cx="5617159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27064" y="2359152"/>
            <a:ext cx="585216" cy="58521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9" name="Text 26"/>
          <p:cNvSpPr/>
          <p:nvPr/>
        </p:nvSpPr>
        <p:spPr>
          <a:xfrm>
            <a:off x="6227064" y="2359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958584" y="2340864"/>
            <a:ext cx="4428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un protocolo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958584" y="2688336"/>
            <a:ext cx="4428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puntos</a:t>
            </a:r>
            <a:pPr indent="0" marL="0"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dificultad alta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007608" y="3218688"/>
            <a:ext cx="5617159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27064" y="3383280"/>
            <a:ext cx="585216" cy="585216"/>
          </a:xfrm>
          <a:prstGeom prst="ellipse">
            <a:avLst/>
          </a:prstGeom>
          <a:solidFill>
            <a:srgbClr val="5E9A6E"/>
          </a:solidFill>
          <a:ln/>
        </p:spPr>
      </p:sp>
      <p:sp>
        <p:nvSpPr>
          <p:cNvPr id="34" name="Text 31"/>
          <p:cNvSpPr/>
          <p:nvPr/>
        </p:nvSpPr>
        <p:spPr>
          <a:xfrm>
            <a:off x="6227064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6958584" y="3364992"/>
            <a:ext cx="4428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una foto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6958584" y="3712464"/>
            <a:ext cx="4428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puntos</a:t>
            </a:r>
            <a:pPr indent="0" marL="0"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dificultad media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07608" y="4242816"/>
            <a:ext cx="5617159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227064" y="4407408"/>
            <a:ext cx="585216" cy="585216"/>
          </a:xfrm>
          <a:prstGeom prst="ellipse">
            <a:avLst/>
          </a:prstGeom>
          <a:solidFill>
            <a:srgbClr val="5E9A6E"/>
          </a:solidFill>
          <a:ln/>
        </p:spPr>
      </p:sp>
      <p:sp>
        <p:nvSpPr>
          <p:cNvPr id="39" name="Text 36"/>
          <p:cNvSpPr/>
          <p:nvPr/>
        </p:nvSpPr>
        <p:spPr>
          <a:xfrm>
            <a:off x="6227064" y="4407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700" dirty="0"/>
          </a:p>
        </p:txBody>
      </p:sp>
      <p:sp>
        <p:nvSpPr>
          <p:cNvPr id="40" name="Text 37"/>
          <p:cNvSpPr/>
          <p:nvPr/>
        </p:nvSpPr>
        <p:spPr>
          <a:xfrm>
            <a:off x="6958584" y="4389120"/>
            <a:ext cx="4428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Geolocalizar una muestra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6958584" y="4736592"/>
            <a:ext cx="4428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puntos</a:t>
            </a:r>
            <a:pPr indent="0" marL="0"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dificultad baja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007608" y="5266944"/>
            <a:ext cx="5617159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227064" y="5431536"/>
            <a:ext cx="585216" cy="585216"/>
          </a:xfrm>
          <a:prstGeom prst="ellipse">
            <a:avLst/>
          </a:prstGeom>
          <a:solidFill>
            <a:srgbClr val="61756A"/>
          </a:solidFill>
          <a:ln/>
        </p:spPr>
      </p:sp>
      <p:sp>
        <p:nvSpPr>
          <p:cNvPr id="44" name="Text 41"/>
          <p:cNvSpPr/>
          <p:nvPr/>
        </p:nvSpPr>
        <p:spPr>
          <a:xfrm>
            <a:off x="6227064" y="54315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958584" y="5413248"/>
            <a:ext cx="4428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perfil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6958584" y="5760720"/>
            <a:ext cx="4428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puntos</a:t>
            </a:r>
            <a:pPr indent="0" marL="0">
              <a:buNone/>
            </a:pPr>
            <a:r>
              <a:rPr lang="en-US" sz="12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dificultad baja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882E"/>
          </a:solidFill>
          <a:ln/>
        </p:spPr>
      </p:sp>
      <p:pic>
        <p:nvPicPr>
          <p:cNvPr id="3" name="Image 0" descr="icons/med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MEDALLAS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Medallas incrementales y estados de jugador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27632"/>
            <a:ext cx="3478682" cy="1417320"/>
          </a:xfrm>
          <a:prstGeom prst="roundRect">
            <a:avLst>
              <a:gd name="adj" fmla="val 645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938528"/>
            <a:ext cx="768096" cy="768096"/>
          </a:xfrm>
          <a:prstGeom prst="ellipse">
            <a:avLst/>
          </a:prstGeom>
          <a:solidFill>
            <a:srgbClr val="5E9A6E"/>
          </a:solidFill>
          <a:ln/>
        </p:spPr>
      </p:sp>
      <p:pic>
        <p:nvPicPr>
          <p:cNvPr id="8" name="Image 1" descr="icons/med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13055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55648" y="1865376"/>
            <a:ext cx="21070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Aficionado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755648" y="2286000"/>
            <a:ext cx="2107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pts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755648" y="2587752"/>
            <a:ext cx="2107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requisitos previos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56506" y="1627632"/>
            <a:ext cx="3478682" cy="1417320"/>
          </a:xfrm>
          <a:prstGeom prst="roundRect">
            <a:avLst>
              <a:gd name="adj" fmla="val 645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30826" y="1938528"/>
            <a:ext cx="768096" cy="768096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4" name="Image 2" descr="icons/med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850" y="213055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45226" y="1865376"/>
            <a:ext cx="21070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Explorador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5545226" y="2286000"/>
            <a:ext cx="2107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 pts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545226" y="2587752"/>
            <a:ext cx="2107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Aficionado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46085" y="1627632"/>
            <a:ext cx="3478682" cy="1417320"/>
          </a:xfrm>
          <a:prstGeom prst="roundRect">
            <a:avLst>
              <a:gd name="adj" fmla="val 6452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20405" y="1938528"/>
            <a:ext cx="768096" cy="768096"/>
          </a:xfrm>
          <a:prstGeom prst="ellipse">
            <a:avLst/>
          </a:prstGeom>
          <a:solidFill>
            <a:srgbClr val="C9882E"/>
          </a:solidFill>
          <a:ln/>
        </p:spPr>
      </p:sp>
      <p:pic>
        <p:nvPicPr>
          <p:cNvPr id="20" name="Image 3" descr="icons/med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429" y="213055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34805" y="1865376"/>
            <a:ext cx="21070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Naturalista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9334805" y="2286000"/>
            <a:ext cx="2107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200 pts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34805" y="2587752"/>
            <a:ext cx="2107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Explorador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6928" y="33101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esperados de jugador  ·  balance materializado = Σ awards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66928" y="37307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Pérez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2852928" y="3849624"/>
            <a:ext cx="6577279" cy="329184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27" name="Shape 21"/>
          <p:cNvSpPr/>
          <p:nvPr/>
        </p:nvSpPr>
        <p:spPr>
          <a:xfrm>
            <a:off x="2852928" y="3849624"/>
            <a:ext cx="6577279" cy="329184"/>
          </a:xfrm>
          <a:prstGeom prst="roundRect">
            <a:avLst>
              <a:gd name="adj" fmla="val 50000"/>
            </a:avLst>
          </a:prstGeom>
          <a:solidFill>
            <a:srgbClr val="C9882E"/>
          </a:solidFill>
          <a:ln/>
        </p:spPr>
      </p:sp>
      <p:sp>
        <p:nvSpPr>
          <p:cNvPr id="28" name="Text 22"/>
          <p:cNvSpPr/>
          <p:nvPr/>
        </p:nvSpPr>
        <p:spPr>
          <a:xfrm>
            <a:off x="9539935" y="37307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pts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2999232" y="3840480"/>
            <a:ext cx="6302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Aficionado · Explorador · Naturalista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66928" y="44165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Lattanzio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2852928" y="4535424"/>
            <a:ext cx="6577279" cy="329184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32" name="Shape 26"/>
          <p:cNvSpPr/>
          <p:nvPr/>
        </p:nvSpPr>
        <p:spPr>
          <a:xfrm>
            <a:off x="2852928" y="4535424"/>
            <a:ext cx="3836746" cy="329184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33" name="Text 27"/>
          <p:cNvSpPr/>
          <p:nvPr/>
        </p:nvSpPr>
        <p:spPr>
          <a:xfrm>
            <a:off x="9539935" y="44165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pts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2999232" y="4526280"/>
            <a:ext cx="35624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Aficionado · Explorador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66928" y="51023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Cabrera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2852928" y="5221224"/>
            <a:ext cx="6577279" cy="329184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37" name="Shape 31"/>
          <p:cNvSpPr/>
          <p:nvPr/>
        </p:nvSpPr>
        <p:spPr>
          <a:xfrm>
            <a:off x="2852928" y="5221224"/>
            <a:ext cx="2192426" cy="329184"/>
          </a:xfrm>
          <a:prstGeom prst="roundRect">
            <a:avLst>
              <a:gd name="adj" fmla="val 50000"/>
            </a:avLst>
          </a:prstGeom>
          <a:solidFill>
            <a:srgbClr val="5E9A6E"/>
          </a:solidFill>
          <a:ln/>
        </p:spPr>
      </p:sp>
      <p:sp>
        <p:nvSpPr>
          <p:cNvPr id="38" name="Text 32"/>
          <p:cNvSpPr/>
          <p:nvPr/>
        </p:nvSpPr>
        <p:spPr>
          <a:xfrm>
            <a:off x="9539935" y="51023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9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pts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2999232" y="5212080"/>
            <a:ext cx="1918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Aficionado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566928" y="57881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Lucía Gómez</a:t>
            </a:r>
            <a:endParaRPr lang="en-US" sz="1350" dirty="0"/>
          </a:p>
        </p:txBody>
      </p:sp>
      <p:sp>
        <p:nvSpPr>
          <p:cNvPr id="41" name="Shape 35"/>
          <p:cNvSpPr/>
          <p:nvPr/>
        </p:nvSpPr>
        <p:spPr>
          <a:xfrm>
            <a:off x="2852928" y="5907024"/>
            <a:ext cx="6577279" cy="329184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42" name="Shape 36"/>
          <p:cNvSpPr/>
          <p:nvPr/>
        </p:nvSpPr>
        <p:spPr>
          <a:xfrm>
            <a:off x="2852928" y="590702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61756A"/>
          </a:solidFill>
          <a:ln/>
        </p:spPr>
      </p:sp>
      <p:sp>
        <p:nvSpPr>
          <p:cNvPr id="43" name="Text 37"/>
          <p:cNvSpPr/>
          <p:nvPr/>
        </p:nvSpPr>
        <p:spPr>
          <a:xfrm>
            <a:off x="9539935" y="57881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7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pts</a:t>
            </a:r>
            <a:endParaRPr lang="en-US" sz="1500" dirty="0"/>
          </a:p>
        </p:txBody>
      </p:sp>
      <p:sp>
        <p:nvSpPr>
          <p:cNvPr id="44" name="Text 38"/>
          <p:cNvSpPr/>
          <p:nvPr/>
        </p:nvSpPr>
        <p:spPr>
          <a:xfrm>
            <a:off x="3346704" y="5897880"/>
            <a:ext cx="5937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medalla (caso de abandono)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/>
        </p:spPr>
      </p:sp>
      <p:pic>
        <p:nvPicPr>
          <p:cNvPr id="3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EN VIVO · 1 A 7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SPARQL · bloque dominio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2763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84708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99616" y="181051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entidades cargadas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99616" y="224942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del grafo: 9 tipos contados.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290779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" y="3127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499616" y="309067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Proyectos, áreas y protocolos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499616" y="352958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área y protocolo activo.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418795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68096" y="440740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6A4F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" y="4407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499616" y="437083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y bifurcaciones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499616" y="480974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 con condiciones, no listas planas.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546811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8096" y="56875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6A4F"/>
          </a:solidFill>
          <a:ln/>
        </p:spPr>
      </p:sp>
      <p:sp>
        <p:nvSpPr>
          <p:cNvPr id="23" name="Text 20"/>
          <p:cNvSpPr/>
          <p:nvPr/>
        </p:nvSpPr>
        <p:spPr>
          <a:xfrm>
            <a:off x="768096" y="5687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499616" y="565099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por persona y provincia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499616" y="608990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real, geolocalizada y multi-proyecto.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51296" y="162763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52464" y="184708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6A4F"/>
          </a:solidFill>
          <a:ln/>
        </p:spPr>
      </p:sp>
      <p:sp>
        <p:nvSpPr>
          <p:cNvPr id="28" name="Text 25"/>
          <p:cNvSpPr/>
          <p:nvPr/>
        </p:nvSpPr>
        <p:spPr>
          <a:xfrm>
            <a:off x="6452464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183984" y="181051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Respuestas: texto, opción, media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183984" y="224942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Riqueza de tipos en una misma muestra.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51296" y="290779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52464" y="3127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6A4F"/>
          </a:solidFill>
          <a:ln/>
        </p:spPr>
      </p:sp>
      <p:sp>
        <p:nvSpPr>
          <p:cNvPr id="33" name="Text 30"/>
          <p:cNvSpPr/>
          <p:nvPr/>
        </p:nvSpPr>
        <p:spPr>
          <a:xfrm>
            <a:off x="6452464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183984" y="309067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con PROV-O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7183984" y="352958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 resuelve vía subpropiedad → true.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251296" y="418795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52464" y="440740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6A4F"/>
          </a:solidFill>
          <a:ln/>
        </p:spPr>
      </p:sp>
      <p:sp>
        <p:nvSpPr>
          <p:cNvPr id="38" name="Text 35"/>
          <p:cNvSpPr/>
          <p:nvPr/>
        </p:nvSpPr>
        <p:spPr>
          <a:xfrm>
            <a:off x="6452464" y="4407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7183984" y="437083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por área (multi-hop)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183984" y="480974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por área derivado sin propiedad manual.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882E"/>
          </a:solidFill>
          <a:ln/>
        </p:spPr>
      </p:sp>
      <p:pic>
        <p:nvPicPr>
          <p:cNvPr id="3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EN VIVO · 8 A 14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SPARQL · bloque PBL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2763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84708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882E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99616" y="181051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entidades PBL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99616" y="224942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Juego, actividades, reglas, jugadores, medallas.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290779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" y="3127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882E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499616" y="309067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puntos del juego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499616" y="352958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· 20 · 10 · 0 puntos por actividad.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418795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68096" y="440740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882E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" y="4407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499616" y="437083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puntos → contribución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499616" y="480974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Acople dominio/juego sin mezclar ontologías.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546811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8096" y="56875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882E"/>
          </a:solidFill>
          <a:ln/>
        </p:spPr>
      </p:sp>
      <p:sp>
        <p:nvSpPr>
          <p:cNvPr id="23" name="Text 20"/>
          <p:cNvSpPr/>
          <p:nvPr/>
        </p:nvSpPr>
        <p:spPr>
          <a:xfrm>
            <a:off x="768096" y="5687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499616" y="565099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Billetera vs. suma de awards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499616" y="608990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pointsBalance coincide con Σ points.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51296" y="162763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52464" y="184708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882E"/>
          </a:solidFill>
          <a:ln/>
        </p:spPr>
      </p:sp>
      <p:sp>
        <p:nvSpPr>
          <p:cNvPr id="28" name="Text 25"/>
          <p:cNvSpPr/>
          <p:nvPr/>
        </p:nvSpPr>
        <p:spPr>
          <a:xfrm>
            <a:off x="6452464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183984" y="181051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del juego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183984" y="224942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Ana, Bruno, Matías, Lucía.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51296" y="290779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52464" y="3127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882E"/>
          </a:solidFill>
          <a:ln/>
        </p:spPr>
      </p:sp>
      <p:sp>
        <p:nvSpPr>
          <p:cNvPr id="33" name="Text 30"/>
          <p:cNvSpPr/>
          <p:nvPr/>
        </p:nvSpPr>
        <p:spPr>
          <a:xfrm>
            <a:off x="6452464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183984" y="309067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hacia medallas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7183984" y="352958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por puntos; anticipa E5.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251296" y="4187952"/>
            <a:ext cx="53734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52464" y="440740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882E"/>
          </a:solidFill>
          <a:ln/>
        </p:spPr>
      </p:sp>
      <p:sp>
        <p:nvSpPr>
          <p:cNvPr id="38" name="Text 35"/>
          <p:cNvSpPr/>
          <p:nvPr/>
        </p:nvSpPr>
        <p:spPr>
          <a:xfrm>
            <a:off x="6452464" y="4407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7183984" y="4370832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Medallas incrementales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183984" y="4809744"/>
            <a:ext cx="423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Precedencia explícita con requiresBadge.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/>
        </p:spPr>
      </p:sp>
      <p:pic>
        <p:nvPicPr>
          <p:cNvPr id="3" name="Image 0" descr="icons/list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GUIÓN SUGERIDO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recorrer la demostración en vivo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755648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43584" y="1645920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infraestructura lista: GraphDB, repo cipa-local y carga reproducible.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2743200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43584" y="2633472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→ volumen del grafo. Query 2 → proyectos, áreas y protocolos activos.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730752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43584" y="3621024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→ flujo y bifurcaciones de los protocolos.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4718304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" y="4718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243584" y="4608576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 → datos reales de participación. Query 5 → riqueza de respuestas.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" y="5705856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5705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43584" y="5596128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6 → inferencia por alineación con PROV-O.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78728" y="1755648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2" name="Text 19"/>
          <p:cNvSpPr/>
          <p:nvPr/>
        </p:nvSpPr>
        <p:spPr>
          <a:xfrm>
            <a:off x="627872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955384" y="1645920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7 → consulta multi-hop y participación por áreas.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78728" y="2743200"/>
            <a:ext cx="512064" cy="512064"/>
          </a:xfrm>
          <a:prstGeom prst="ellipse">
            <a:avLst/>
          </a:prstGeom>
          <a:solidFill>
            <a:srgbClr val="C9882E"/>
          </a:solidFill>
          <a:ln/>
        </p:spPr>
      </p:sp>
      <p:sp>
        <p:nvSpPr>
          <p:cNvPr id="25" name="Text 22"/>
          <p:cNvSpPr/>
          <p:nvPr/>
        </p:nvSpPr>
        <p:spPr>
          <a:xfrm>
            <a:off x="6278728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955384" y="2633472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8 y 9 → catálogo PBL y reglas de puntos.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78728" y="3730752"/>
            <a:ext cx="512064" cy="512064"/>
          </a:xfrm>
          <a:prstGeom prst="ellipse">
            <a:avLst/>
          </a:prstGeom>
          <a:solidFill>
            <a:srgbClr val="C9882E"/>
          </a:solidFill>
          <a:ln/>
        </p:spPr>
      </p:sp>
      <p:sp>
        <p:nvSpPr>
          <p:cNvPr id="28" name="Text 25"/>
          <p:cNvSpPr/>
          <p:nvPr/>
        </p:nvSpPr>
        <p:spPr>
          <a:xfrm>
            <a:off x="6278728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955384" y="3621024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 → trazabilidad puntos ↔ contribuciones. Query 11 → verificar billetera.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78728" y="4718304"/>
            <a:ext cx="512064" cy="512064"/>
          </a:xfrm>
          <a:prstGeom prst="ellipse">
            <a:avLst/>
          </a:prstGeom>
          <a:solidFill>
            <a:srgbClr val="C9882E"/>
          </a:solidFill>
          <a:ln/>
        </p:spPr>
      </p:sp>
      <p:sp>
        <p:nvSpPr>
          <p:cNvPr id="31" name="Text 28"/>
          <p:cNvSpPr/>
          <p:nvPr/>
        </p:nvSpPr>
        <p:spPr>
          <a:xfrm>
            <a:off x="6278728" y="4718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6955384" y="4608576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12 → leaderboard.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78728" y="5705856"/>
            <a:ext cx="512064" cy="512064"/>
          </a:xfrm>
          <a:prstGeom prst="ellipse">
            <a:avLst/>
          </a:prstGeom>
          <a:solidFill>
            <a:srgbClr val="C9882E"/>
          </a:solidFill>
          <a:ln/>
        </p:spPr>
      </p:sp>
      <p:sp>
        <p:nvSpPr>
          <p:cNvPr id="34" name="Text 31"/>
          <p:cNvSpPr/>
          <p:nvPr/>
        </p:nvSpPr>
        <p:spPr>
          <a:xfrm>
            <a:off x="6278728" y="5705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6955384" y="5596128"/>
            <a:ext cx="4669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13 y 14 → cerrar con progreso de medallas y precedencia incremental.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C9882E"/>
          </a:solidFill>
          <a:ln/>
        </p:spPr>
      </p:sp>
      <p:pic>
        <p:nvPicPr>
          <p:cNvPr id="3" name="Image 0" descr="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12064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8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· E5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 el ciclo de medallas vía SHACL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691640"/>
            <a:ext cx="5373472" cy="1783080"/>
          </a:xfrm>
          <a:prstGeom prst="roundRect">
            <a:avLst>
              <a:gd name="adj" fmla="val 5128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" y="2020824"/>
            <a:ext cx="749808" cy="74980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2208276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47088" y="2057400"/>
            <a:ext cx="381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Shapes de medallas con sh:sparql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47088" y="2651760"/>
            <a:ext cx="381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conformidad-como-criterio para cada medalla.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51296" y="1691640"/>
            <a:ext cx="5373472" cy="1783080"/>
          </a:xfrm>
          <a:prstGeom prst="roundRect">
            <a:avLst>
              <a:gd name="adj" fmla="val 5128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62192" y="2020824"/>
            <a:ext cx="749808" cy="749808"/>
          </a:xfrm>
          <a:prstGeom prst="ellipse">
            <a:avLst/>
          </a:prstGeom>
          <a:solidFill>
            <a:srgbClr val="C9882E"/>
          </a:solidFill>
          <a:ln/>
        </p:spPr>
      </p:sp>
      <p:pic>
        <p:nvPicPr>
          <p:cNvPr id="13" name="Image 2" descr="icons/med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644" y="2208276"/>
            <a:ext cx="374904" cy="374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31456" y="2057400"/>
            <a:ext cx="381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Materializar pbl:earnedBadge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531456" y="2651760"/>
            <a:ext cx="381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las medallas a partir del resultado SHACL.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66928" y="3712464"/>
            <a:ext cx="5373472" cy="1783080"/>
          </a:xfrm>
          <a:prstGeom prst="roundRect">
            <a:avLst>
              <a:gd name="adj" fmla="val 5128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77824" y="4041648"/>
            <a:ext cx="749808" cy="74980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8" name="Image 3" descr="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4229100"/>
            <a:ext cx="374904" cy="374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47088" y="4078224"/>
            <a:ext cx="381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medallas desde GraphDB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47088" y="4672584"/>
            <a:ext cx="381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medallas asignadas y estatus del jugador.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51296" y="3712464"/>
            <a:ext cx="5373472" cy="1783080"/>
          </a:xfrm>
          <a:prstGeom prst="roundRect">
            <a:avLst>
              <a:gd name="adj" fmla="val 5128"/>
            </a:avLst>
          </a:prstGeom>
          <a:solidFill>
            <a:srgbClr val="F3F8F2"/>
          </a:solidFill>
          <a:ln w="12700">
            <a:solidFill>
              <a:srgbClr val="D7E3D8"/>
            </a:solidFill>
            <a:prstDash val="solid"/>
          </a:ln>
          <a:effectLst>
            <a:outerShdw sx="100000" sy="100000" kx="0" ky="0" algn="bl" rotWithShape="0" blurRad="88900" dist="38100" dir="5400000">
              <a:srgbClr val="1A2E22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62192" y="4041648"/>
            <a:ext cx="749808" cy="74980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4" descr="icons/fl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644" y="4229100"/>
            <a:ext cx="374904" cy="374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31456" y="4078224"/>
            <a:ext cx="381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E2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 finales de entrega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531456" y="4672584"/>
            <a:ext cx="381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el set definitivo sobre la carga integral.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937760" cy="4937760"/>
          </a:xfrm>
          <a:prstGeom prst="ellipse">
            <a:avLst/>
          </a:prstGeom>
          <a:solidFill>
            <a:srgbClr val="2D6A4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554480"/>
            <a:ext cx="4389120" cy="4389120"/>
          </a:xfrm>
          <a:prstGeom prst="ellipse">
            <a:avLst/>
          </a:prstGeom>
          <a:solidFill>
            <a:srgbClr val="1B433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868680"/>
            <a:ext cx="868680" cy="868680"/>
          </a:xfrm>
          <a:prstGeom prst="ellipse">
            <a:avLst/>
          </a:prstGeom>
          <a:solidFill>
            <a:srgbClr val="A8C9A0"/>
          </a:solidFill>
          <a:ln/>
        </p:spPr>
      </p:sp>
      <p:pic>
        <p:nvPicPr>
          <p:cNvPr id="5" name="Image 0" descr="icons/seedlin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0858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22860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ciclo completo, listo para demostrar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66928" y="3977640"/>
            <a:ext cx="11057839" cy="822960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3977640"/>
            <a:ext cx="103263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Ontología OWL → datos RDF → validación SHACL → carga GraphDB → consultas SPARQL → inferencia → capa PBL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66928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funciona  </a:t>
            </a:r>
            <a:pPr indent="0" marL="0">
              <a:buNone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datos poblados · validación SHACL · inferencia semántica · ludificación trazable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AdaptativeScience Graph · Bruno Lattanzio · Ciencia Participativa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AdaptativeScience Graph — Presentación de avances</dc:title>
  <dc:subject>PptxGenJS Presentation</dc:subject>
  <dc:creator>Bruno Lattanzio</dc:creator>
  <cp:lastModifiedBy>Bruno Lattanzio</cp:lastModifiedBy>
  <cp:revision>1</cp:revision>
  <dcterms:created xsi:type="dcterms:W3CDTF">2026-06-30T18:17:41Z</dcterms:created>
  <dcterms:modified xsi:type="dcterms:W3CDTF">2026-06-30T18:17:41Z</dcterms:modified>
</cp:coreProperties>
</file>